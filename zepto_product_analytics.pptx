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848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789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153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1384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342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328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233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711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656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279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531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031182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palvinder2006/zepto-inventory-dataset/data?select=zepto_v2.csv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parrowAI - Data Science, Machine learning, Python, AI Training and  Development Center">
            <a:extLst>
              <a:ext uri="{FF2B5EF4-FFF2-40B4-BE49-F238E27FC236}">
                <a16:creationId xmlns:a16="http://schemas.microsoft.com/office/drawing/2014/main" id="{3A393105-7870-A358-87F9-57B68879C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331" y="3278017"/>
            <a:ext cx="4255280" cy="3579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28C776-EB39-A35B-9074-9810DAAC76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924" y="1249636"/>
            <a:ext cx="8521249" cy="1160213"/>
          </a:xfrm>
        </p:spPr>
        <p:txBody>
          <a:bodyPr>
            <a:normAutofit/>
          </a:bodyPr>
          <a:lstStyle/>
          <a:p>
            <a:pPr algn="just"/>
            <a:r>
              <a:rPr lang="en-IN" dirty="0" err="1"/>
              <a:t>Zepto</a:t>
            </a:r>
            <a:r>
              <a:rPr lang="en-IN" dirty="0"/>
              <a:t> Product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D63593-1887-B8C9-C09B-A5DB9DBF1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511" y="3344159"/>
            <a:ext cx="8616099" cy="454843"/>
          </a:xfrm>
        </p:spPr>
        <p:txBody>
          <a:bodyPr>
            <a:noAutofit/>
          </a:bodyPr>
          <a:lstStyle/>
          <a:p>
            <a:pPr algn="just"/>
            <a:r>
              <a:rPr lang="en-US" sz="2000" dirty="0"/>
              <a:t>SQL-Driven Exploratory Data Analysis for Quick Commerce Optimization</a:t>
            </a:r>
          </a:p>
          <a:p>
            <a:pPr algn="just"/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DF937C-7FEA-E47B-988A-A52672DAD27F}"/>
              </a:ext>
            </a:extLst>
          </p:cNvPr>
          <p:cNvSpPr txBox="1"/>
          <p:nvPr/>
        </p:nvSpPr>
        <p:spPr>
          <a:xfrm>
            <a:off x="4681331" y="5684362"/>
            <a:ext cx="42552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rgbClr val="7030A0"/>
                </a:solidFill>
              </a:rPr>
              <a:t>Pranay Sadawarti</a:t>
            </a:r>
          </a:p>
          <a:p>
            <a:pPr algn="ctr"/>
            <a:endParaRPr lang="pt-BR" sz="2000" dirty="0">
              <a:solidFill>
                <a:srgbClr val="7030A0"/>
              </a:solidFill>
            </a:endParaRPr>
          </a:p>
          <a:p>
            <a:pPr algn="ctr"/>
            <a:r>
              <a:rPr lang="pt-BR" sz="2000" dirty="0">
                <a:solidFill>
                  <a:srgbClr val="7030A0"/>
                </a:solidFill>
              </a:rPr>
              <a:t>Zepto SQL Project | June 2026</a:t>
            </a:r>
          </a:p>
        </p:txBody>
      </p:sp>
    </p:spTree>
    <p:extLst>
      <p:ext uri="{BB962C8B-B14F-4D97-AF65-F5344CB8AC3E}">
        <p14:creationId xmlns:p14="http://schemas.microsoft.com/office/powerpoint/2010/main" val="2351595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5436CD-836E-B9AB-AB34-E4333096F567}"/>
              </a:ext>
            </a:extLst>
          </p:cNvPr>
          <p:cNvSpPr txBox="1"/>
          <p:nvPr/>
        </p:nvSpPr>
        <p:spPr>
          <a:xfrm>
            <a:off x="1242391" y="367748"/>
            <a:ext cx="10038522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Agenda: 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Project Objective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Dataset Overview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Exploration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Cleaning &amp; Transformation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Key Business Insights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Visualizations &amp; Findings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Business Recommendations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Challenges &amp; Learnings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Future Enhancements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8662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8379E9-71ED-D8C2-BBE7-D42BFC4FAC16}"/>
              </a:ext>
            </a:extLst>
          </p:cNvPr>
          <p:cNvSpPr txBox="1"/>
          <p:nvPr/>
        </p:nvSpPr>
        <p:spPr>
          <a:xfrm>
            <a:off x="1053548" y="1093309"/>
            <a:ext cx="1032675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Business Problem</a:t>
            </a:r>
          </a:p>
          <a:p>
            <a:endParaRPr lang="en-IN" b="1" dirty="0"/>
          </a:p>
          <a:p>
            <a:r>
              <a:rPr lang="en-IN" sz="2000" dirty="0"/>
              <a:t>Quick commerce platforms like </a:t>
            </a:r>
            <a:r>
              <a:rPr lang="en-IN" sz="2000" dirty="0" err="1"/>
              <a:t>Zepto</a:t>
            </a:r>
            <a:r>
              <a:rPr lang="en-IN" sz="2000" dirty="0"/>
              <a:t> face challenges 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Optimizing product pricing &amp; discounts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Managing inventory efficiently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Identifying revenue opportunities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Reducing stockouts on high-value items</a:t>
            </a:r>
          </a:p>
          <a:p>
            <a:endParaRPr lang="en-IN" dirty="0"/>
          </a:p>
          <a:p>
            <a:r>
              <a:rPr lang="en-IN" sz="2400" b="1" dirty="0"/>
              <a:t>Project Goal</a:t>
            </a:r>
          </a:p>
          <a:p>
            <a:endParaRPr lang="en-IN" b="1" dirty="0"/>
          </a:p>
          <a:p>
            <a:pPr algn="just"/>
            <a:r>
              <a:rPr lang="en-IN" sz="2000" dirty="0"/>
              <a:t>Perform comprehensive SQL analysis on </a:t>
            </a:r>
            <a:r>
              <a:rPr lang="en-IN" sz="2000" dirty="0" err="1"/>
              <a:t>Zepto’s</a:t>
            </a:r>
            <a:r>
              <a:rPr lang="en-IN" sz="2000" dirty="0"/>
              <a:t> product </a:t>
            </a:r>
            <a:r>
              <a:rPr lang="en-IN" sz="2000" dirty="0" err="1"/>
              <a:t>catalog</a:t>
            </a:r>
            <a:r>
              <a:rPr lang="en-IN" sz="2000" dirty="0"/>
              <a:t> to generate actionable insights that drive revenue growth, better inventory decisions, and pricing strategy.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2775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FFAC11-744D-B171-60B5-F33FAB5DF69E}"/>
              </a:ext>
            </a:extLst>
          </p:cNvPr>
          <p:cNvSpPr txBox="1"/>
          <p:nvPr/>
        </p:nvSpPr>
        <p:spPr>
          <a:xfrm>
            <a:off x="1033670" y="526774"/>
            <a:ext cx="10296939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Dataset Overview</a:t>
            </a:r>
          </a:p>
          <a:p>
            <a:endParaRPr lang="en-IN" b="1" dirty="0"/>
          </a:p>
          <a:p>
            <a:pPr fontAlgn="base"/>
            <a:r>
              <a:rPr lang="en-IN" b="1" dirty="0"/>
              <a:t>Source:</a:t>
            </a:r>
            <a:r>
              <a:rPr lang="en-IN" dirty="0"/>
              <a:t> </a:t>
            </a:r>
            <a:r>
              <a:rPr lang="en-IN" b="1" dirty="0" err="1"/>
              <a:t>Zepto</a:t>
            </a:r>
            <a:r>
              <a:rPr lang="en-IN" b="1" dirty="0"/>
              <a:t> Inventory Dataset </a:t>
            </a:r>
            <a:r>
              <a:rPr lang="en-IN" sz="1600" b="1" dirty="0">
                <a:hlinkClick r:id="rId2"/>
              </a:rPr>
              <a:t>(https://www.kaggle.com/datasets/palvinder2006/zepto-inventory-dataset/data?select=zepto_v2.csv)</a:t>
            </a:r>
            <a:endParaRPr lang="en-IN" sz="1600" b="1" dirty="0"/>
          </a:p>
          <a:p>
            <a:endParaRPr lang="en-IN" dirty="0"/>
          </a:p>
          <a:p>
            <a:r>
              <a:rPr lang="en-IN" b="1" dirty="0"/>
              <a:t>Total Records:</a:t>
            </a:r>
            <a:r>
              <a:rPr lang="en-IN" dirty="0"/>
              <a:t> ~3,000+ SKUs</a:t>
            </a:r>
          </a:p>
          <a:p>
            <a:endParaRPr lang="en-IN" dirty="0"/>
          </a:p>
          <a:p>
            <a:r>
              <a:rPr lang="en-IN" b="1" dirty="0"/>
              <a:t>Columns:</a:t>
            </a:r>
            <a:r>
              <a:rPr lang="en-IN" dirty="0"/>
              <a:t> 10 (</a:t>
            </a:r>
            <a:r>
              <a:rPr lang="en-IN" dirty="0" err="1"/>
              <a:t>sku_id</a:t>
            </a:r>
            <a:r>
              <a:rPr lang="en-IN" dirty="0"/>
              <a:t>, category, name, </a:t>
            </a:r>
            <a:r>
              <a:rPr lang="en-IN" dirty="0" err="1"/>
              <a:t>mrp</a:t>
            </a:r>
            <a:r>
              <a:rPr lang="en-IN" dirty="0"/>
              <a:t>, </a:t>
            </a:r>
            <a:r>
              <a:rPr lang="en-IN" dirty="0" err="1"/>
              <a:t>discountPercent</a:t>
            </a:r>
            <a:r>
              <a:rPr lang="en-IN" dirty="0"/>
              <a:t>, </a:t>
            </a:r>
            <a:r>
              <a:rPr lang="en-IN" dirty="0" err="1"/>
              <a:t>discountedSellingPrice</a:t>
            </a:r>
            <a:r>
              <a:rPr lang="en-IN" dirty="0"/>
              <a:t>, </a:t>
            </a:r>
            <a:r>
              <a:rPr lang="en-IN" dirty="0" err="1"/>
              <a:t>weightInGms</a:t>
            </a:r>
            <a:r>
              <a:rPr lang="en-IN" dirty="0"/>
              <a:t>, </a:t>
            </a:r>
            <a:r>
              <a:rPr lang="en-IN" dirty="0" err="1"/>
              <a:t>availableQuantity</a:t>
            </a:r>
            <a:r>
              <a:rPr lang="en-IN" dirty="0"/>
              <a:t>, </a:t>
            </a:r>
            <a:r>
              <a:rPr lang="en-IN" dirty="0" err="1"/>
              <a:t>outOfStock</a:t>
            </a:r>
            <a:r>
              <a:rPr lang="en-IN" dirty="0"/>
              <a:t>, quantity)</a:t>
            </a:r>
          </a:p>
          <a:p>
            <a:endParaRPr lang="en-IN" dirty="0"/>
          </a:p>
          <a:p>
            <a:r>
              <a:rPr lang="en-IN" b="1" dirty="0"/>
              <a:t>Granularity:</a:t>
            </a:r>
            <a:r>
              <a:rPr lang="en-IN" dirty="0"/>
              <a:t> SKU Level</a:t>
            </a:r>
          </a:p>
          <a:p>
            <a:endParaRPr lang="en-IN" dirty="0"/>
          </a:p>
          <a:p>
            <a:r>
              <a:rPr lang="en-IN" b="1" dirty="0"/>
              <a:t>Key Features:</a:t>
            </a:r>
            <a:r>
              <a:rPr lang="en-IN" dirty="0"/>
              <a:t> Pricing, Inventory, Stock Status, Product Weight &amp; Category</a:t>
            </a:r>
          </a:p>
          <a:p>
            <a:endParaRPr lang="en-IN" dirty="0"/>
          </a:p>
          <a:p>
            <a:r>
              <a:rPr lang="en-IN" b="1" dirty="0"/>
              <a:t>Business Value:</a:t>
            </a:r>
            <a:r>
              <a:rPr lang="en-IN" dirty="0"/>
              <a:t> Rich dataset to understand pricing, discount effectiveness &amp; inventory health.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2725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05BAB0-E90E-74BC-BB12-F28CA45A3D27}"/>
              </a:ext>
            </a:extLst>
          </p:cNvPr>
          <p:cNvSpPr txBox="1"/>
          <p:nvPr/>
        </p:nvSpPr>
        <p:spPr>
          <a:xfrm>
            <a:off x="1003851" y="1133061"/>
            <a:ext cx="10386391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 Exploration</a:t>
            </a:r>
          </a:p>
          <a:p>
            <a:endParaRPr lang="en-US" sz="2400" b="1" dirty="0"/>
          </a:p>
          <a:p>
            <a:r>
              <a:rPr lang="en-US" sz="2000" b="1" dirty="0"/>
              <a:t>Key Findings: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Total Products Analyzed: [Run </a:t>
            </a:r>
            <a:r>
              <a:rPr lang="en-US" sz="2000" dirty="0">
                <a:solidFill>
                  <a:srgbClr val="FF0000"/>
                </a:solidFill>
              </a:rPr>
              <a:t>SELECT COUNT(*)</a:t>
            </a:r>
            <a:r>
              <a:rPr lang="en-US" sz="2000" dirty="0"/>
              <a:t>]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Unique Categories: [Run </a:t>
            </a:r>
            <a:r>
              <a:rPr lang="en-US" sz="2000" dirty="0">
                <a:solidFill>
                  <a:srgbClr val="FF0000"/>
                </a:solidFill>
              </a:rPr>
              <a:t>SELECT COUNT(DISTINCT category)</a:t>
            </a:r>
            <a:r>
              <a:rPr lang="en-US" sz="2000" dirty="0"/>
              <a:t>]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Stock Status: In-stock vs Out-of-Stock distribution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Multiple SKUs with same product name (duplicate naming issue)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Price Range: MRP &amp; Discounted Selling Price variation</a:t>
            </a:r>
          </a:p>
        </p:txBody>
      </p:sp>
    </p:spTree>
    <p:extLst>
      <p:ext uri="{BB962C8B-B14F-4D97-AF65-F5344CB8AC3E}">
        <p14:creationId xmlns:p14="http://schemas.microsoft.com/office/powerpoint/2010/main" val="1280922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B46341-84FC-C775-0039-7B78F011BEA3}"/>
              </a:ext>
            </a:extLst>
          </p:cNvPr>
          <p:cNvSpPr txBox="1"/>
          <p:nvPr/>
        </p:nvSpPr>
        <p:spPr>
          <a:xfrm>
            <a:off x="1103243" y="1232452"/>
            <a:ext cx="10247244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 Cleaning &amp; Transformation</a:t>
            </a:r>
          </a:p>
          <a:p>
            <a:endParaRPr lang="en-US" sz="2400" b="1" dirty="0"/>
          </a:p>
          <a:p>
            <a:r>
              <a:rPr lang="en-US" sz="2000" b="1" dirty="0"/>
              <a:t>Cleaning Steps Performed: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Removed records with MRP = 0 (invalid entries)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Converted price from </a:t>
            </a:r>
            <a:r>
              <a:rPr lang="en-US" sz="2000" b="1" dirty="0"/>
              <a:t>Paise to Rupees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0000"/>
                </a:solidFill>
              </a:rPr>
              <a:t>/100</a:t>
            </a:r>
            <a:r>
              <a:rPr lang="en-US" sz="2000" dirty="0"/>
              <a:t>)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Validated NULL values across critical columns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Ensured data consistency and quality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669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0672CC-2FF4-12F7-DD25-C7ABC9DEBE4F}"/>
              </a:ext>
            </a:extLst>
          </p:cNvPr>
          <p:cNvSpPr txBox="1"/>
          <p:nvPr/>
        </p:nvSpPr>
        <p:spPr>
          <a:xfrm>
            <a:off x="1043609" y="666605"/>
            <a:ext cx="505239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Top Discount Offers</a:t>
            </a:r>
          </a:p>
          <a:p>
            <a:endParaRPr lang="en-US" sz="2000" b="1" u="sng" dirty="0"/>
          </a:p>
          <a:p>
            <a:r>
              <a:rPr lang="en-US" b="1" dirty="0"/>
              <a:t>Business Question:</a:t>
            </a:r>
            <a:r>
              <a:rPr lang="en-US" dirty="0"/>
              <a:t> Which products are giving the highest discounts?</a:t>
            </a:r>
          </a:p>
          <a:p>
            <a:r>
              <a:rPr lang="en-US" b="1" dirty="0"/>
              <a:t>SQL Used: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859FFD-E6B6-E25B-B8D9-AFDEB921AA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732"/>
          <a:stretch>
            <a:fillRect/>
          </a:stretch>
        </p:blipFill>
        <p:spPr>
          <a:xfrm>
            <a:off x="1141014" y="2466093"/>
            <a:ext cx="4198760" cy="9936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D3D661-43CA-CA7E-23E5-C1162A03B2EC}"/>
              </a:ext>
            </a:extLst>
          </p:cNvPr>
          <p:cNvSpPr txBox="1"/>
          <p:nvPr/>
        </p:nvSpPr>
        <p:spPr>
          <a:xfrm>
            <a:off x="1141014" y="3945836"/>
            <a:ext cx="49549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Finding:</a:t>
            </a:r>
            <a:r>
              <a:rPr lang="en-US" dirty="0"/>
              <a:t> Top 10 products with maximum discount percentage identified.</a:t>
            </a:r>
          </a:p>
          <a:p>
            <a:endParaRPr lang="en-US" dirty="0"/>
          </a:p>
          <a:p>
            <a:r>
              <a:rPr lang="en-US" b="1" dirty="0"/>
              <a:t>Action:</a:t>
            </a:r>
            <a:r>
              <a:rPr lang="en-US" dirty="0"/>
              <a:t> Focus marketing &amp; promotion on these high-discount items to drive volume sales.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BC3DE4-06E1-3A80-1882-EA5BE67BDC13}"/>
              </a:ext>
            </a:extLst>
          </p:cNvPr>
          <p:cNvSpPr txBox="1"/>
          <p:nvPr/>
        </p:nvSpPr>
        <p:spPr>
          <a:xfrm>
            <a:off x="5973417" y="697382"/>
            <a:ext cx="537707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High MRP Out-of-Stock Products</a:t>
            </a:r>
          </a:p>
          <a:p>
            <a:endParaRPr lang="en-US" b="1" dirty="0"/>
          </a:p>
          <a:p>
            <a:r>
              <a:rPr lang="en-US" b="1" dirty="0"/>
              <a:t>Business Question:</a:t>
            </a:r>
            <a:r>
              <a:rPr lang="en-US" dirty="0"/>
              <a:t> Which high-value products are out of stock?</a:t>
            </a:r>
          </a:p>
          <a:p>
            <a:r>
              <a:rPr lang="en-US" b="1" dirty="0"/>
              <a:t>SQL Used:</a:t>
            </a:r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C2F0AD-78A3-8283-C97B-208ADDB8E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754" y="2430964"/>
            <a:ext cx="4198760" cy="10287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52B4DB-B592-4DAC-A455-3ADD4A0EF88C}"/>
              </a:ext>
            </a:extLst>
          </p:cNvPr>
          <p:cNvSpPr txBox="1"/>
          <p:nvPr/>
        </p:nvSpPr>
        <p:spPr>
          <a:xfrm>
            <a:off x="6361043" y="3945836"/>
            <a:ext cx="49894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Finding:</a:t>
            </a:r>
            <a:r>
              <a:rPr lang="en-US" dirty="0"/>
              <a:t> Several high MRP products (&gt; ₹300) are currently out of stock.</a:t>
            </a:r>
          </a:p>
          <a:p>
            <a:endParaRPr lang="en-US" dirty="0"/>
          </a:p>
          <a:p>
            <a:r>
              <a:rPr lang="en-US" b="1" dirty="0"/>
              <a:t>Business Impact:</a:t>
            </a:r>
            <a:r>
              <a:rPr lang="en-US" dirty="0"/>
              <a:t> Potential revenue loss. Priority restocking recommended.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3941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9CADF-875D-3EE3-6EE0-44875B62B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D0E6D7-40B5-132E-9B58-BC1EF5D7B621}"/>
              </a:ext>
            </a:extLst>
          </p:cNvPr>
          <p:cNvSpPr txBox="1"/>
          <p:nvPr/>
        </p:nvSpPr>
        <p:spPr>
          <a:xfrm>
            <a:off x="1043609" y="229286"/>
            <a:ext cx="505239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Category Performance</a:t>
            </a:r>
          </a:p>
          <a:p>
            <a:endParaRPr lang="en-US" sz="2000" b="1" u="sng" dirty="0"/>
          </a:p>
          <a:p>
            <a:r>
              <a:rPr lang="en-US" b="1" dirty="0"/>
              <a:t>Business Question:</a:t>
            </a:r>
            <a:r>
              <a:rPr lang="en-US" dirty="0"/>
              <a:t> Estimated Revenue for each category?</a:t>
            </a:r>
          </a:p>
          <a:p>
            <a:r>
              <a:rPr lang="en-US" b="1" dirty="0"/>
              <a:t>SQL Used: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51BDE5-0E93-7CBF-FAA0-534D7721B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14" y="1829477"/>
            <a:ext cx="4832403" cy="13908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DEDFA3-5B99-1AE3-0B61-C99C21174E15}"/>
              </a:ext>
            </a:extLst>
          </p:cNvPr>
          <p:cNvSpPr txBox="1"/>
          <p:nvPr/>
        </p:nvSpPr>
        <p:spPr>
          <a:xfrm>
            <a:off x="1141014" y="3429000"/>
            <a:ext cx="537707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Top Categories by Average Discount</a:t>
            </a:r>
          </a:p>
          <a:p>
            <a:endParaRPr lang="en-US" b="1" dirty="0"/>
          </a:p>
          <a:p>
            <a:r>
              <a:rPr lang="en-US" b="1" dirty="0"/>
              <a:t>Business Question:</a:t>
            </a:r>
            <a:r>
              <a:rPr lang="en-US" dirty="0"/>
              <a:t> Which high-value products are out of stock?</a:t>
            </a:r>
          </a:p>
          <a:p>
            <a:r>
              <a:rPr lang="en-US" b="1" dirty="0"/>
              <a:t>SQL Used: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80D5316-DC7C-961B-7A93-024E3458E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013" y="4937105"/>
            <a:ext cx="4832403" cy="15388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D58D46-81EB-FEF1-A4C6-E4C146FE622E}"/>
              </a:ext>
            </a:extLst>
          </p:cNvPr>
          <p:cNvSpPr txBox="1"/>
          <p:nvPr/>
        </p:nvSpPr>
        <p:spPr>
          <a:xfrm>
            <a:off x="6096000" y="367785"/>
            <a:ext cx="5254487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Pricing Efficiency</a:t>
            </a:r>
          </a:p>
          <a:p>
            <a:endParaRPr lang="en-US" sz="2000" b="1" u="sng" dirty="0"/>
          </a:p>
          <a:p>
            <a:r>
              <a:rPr lang="en-US" b="1" dirty="0"/>
              <a:t>High MRP + Low Discount Products:</a:t>
            </a:r>
          </a:p>
          <a:p>
            <a:r>
              <a:rPr lang="en-US" b="1" dirty="0"/>
              <a:t>SQL Used:</a:t>
            </a:r>
            <a:endParaRPr lang="en-IN" b="1" dirty="0"/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AF5220-388E-A347-B248-2617FB664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8584" y="1829476"/>
            <a:ext cx="4832401" cy="13908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0932925-52D4-FF3F-F51C-E98F93B07F83}"/>
              </a:ext>
            </a:extLst>
          </p:cNvPr>
          <p:cNvSpPr txBox="1"/>
          <p:nvPr/>
        </p:nvSpPr>
        <p:spPr>
          <a:xfrm>
            <a:off x="6301409" y="3429000"/>
            <a:ext cx="5049078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Best Value Products (Price per Gram)</a:t>
            </a:r>
          </a:p>
          <a:p>
            <a:endParaRPr lang="en-US" sz="2000" b="1" u="sng" dirty="0"/>
          </a:p>
          <a:p>
            <a:r>
              <a:rPr lang="en-US" b="1" dirty="0"/>
              <a:t>SQL Used:</a:t>
            </a:r>
            <a:endParaRPr lang="en-IN" b="1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E245E14-E95D-2F22-6C59-7B8954F88D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8582" y="4502426"/>
            <a:ext cx="4832403" cy="198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9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BDB20E-019C-C1FC-F03F-B9ACDB317701}"/>
              </a:ext>
            </a:extLst>
          </p:cNvPr>
          <p:cNvSpPr txBox="1"/>
          <p:nvPr/>
        </p:nvSpPr>
        <p:spPr>
          <a:xfrm>
            <a:off x="974035" y="218661"/>
            <a:ext cx="1040626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Inventory Weight Analysis</a:t>
            </a:r>
          </a:p>
          <a:p>
            <a:endParaRPr lang="en-US" b="1" dirty="0"/>
          </a:p>
          <a:p>
            <a:r>
              <a:rPr lang="en-US" b="1" dirty="0"/>
              <a:t>Total Inventory Weight by Category</a:t>
            </a:r>
          </a:p>
          <a:p>
            <a:r>
              <a:rPr lang="en-US" b="1" dirty="0"/>
              <a:t>SQL Used: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C6F585-262E-714D-397E-60F0CEC9DA4A}"/>
              </a:ext>
            </a:extLst>
          </p:cNvPr>
          <p:cNvSpPr txBox="1"/>
          <p:nvPr/>
        </p:nvSpPr>
        <p:spPr>
          <a:xfrm>
            <a:off x="974035" y="3687417"/>
            <a:ext cx="103665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Weight Categorization:</a:t>
            </a:r>
          </a:p>
          <a:p>
            <a:endParaRPr lang="en-US" dirty="0"/>
          </a:p>
          <a:p>
            <a:r>
              <a:rPr lang="en-US" dirty="0"/>
              <a:t>Low (&lt; 1kg)</a:t>
            </a:r>
          </a:p>
          <a:p>
            <a:r>
              <a:rPr lang="en-US" dirty="0"/>
              <a:t>Medium (1kg - 5kg)</a:t>
            </a:r>
          </a:p>
          <a:p>
            <a:r>
              <a:rPr lang="en-US" dirty="0"/>
              <a:t>Bulk (&gt; 5kg)</a:t>
            </a:r>
          </a:p>
          <a:p>
            <a:endParaRPr lang="en-US" dirty="0"/>
          </a:p>
          <a:p>
            <a:r>
              <a:rPr lang="en-US" b="1" dirty="0"/>
              <a:t>Use Case:</a:t>
            </a:r>
            <a:r>
              <a:rPr lang="en-US" dirty="0"/>
              <a:t> Logistics &amp; delivery cost optimization.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8D2238-7A76-61D1-48A0-41E1AFFE7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034" y="1643896"/>
            <a:ext cx="5121965" cy="178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410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C2BF82-793C-F712-0BF7-F021E452E017}"/>
              </a:ext>
            </a:extLst>
          </p:cNvPr>
          <p:cNvSpPr txBox="1"/>
          <p:nvPr/>
        </p:nvSpPr>
        <p:spPr>
          <a:xfrm>
            <a:off x="983974" y="983974"/>
            <a:ext cx="1034663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Business Recommendations</a:t>
            </a:r>
          </a:p>
          <a:p>
            <a:pPr algn="just"/>
            <a:endParaRPr lang="en-US" sz="2000" b="1" u="sng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Restock high MRP out-of-stock products</a:t>
            </a:r>
            <a:r>
              <a:rPr lang="en-US" sz="2000" dirty="0"/>
              <a:t> immediately</a:t>
            </a:r>
          </a:p>
          <a:p>
            <a:pPr algn="just"/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Aggressive promotion</a:t>
            </a:r>
            <a:r>
              <a:rPr lang="en-US" sz="2000" dirty="0"/>
              <a:t> on top discount items</a:t>
            </a:r>
          </a:p>
          <a:p>
            <a:pPr algn="just"/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Optimize pricing</a:t>
            </a:r>
            <a:r>
              <a:rPr lang="en-US" sz="2000" dirty="0"/>
              <a:t> for high MRP + low discount products</a:t>
            </a:r>
          </a:p>
          <a:p>
            <a:pPr algn="just"/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Category-focused strategy</a:t>
            </a:r>
            <a:r>
              <a:rPr lang="en-US" sz="2000" dirty="0"/>
              <a:t> based on revenue &amp; discount performance</a:t>
            </a:r>
          </a:p>
          <a:p>
            <a:pPr algn="just"/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Improve inventory planning</a:t>
            </a:r>
            <a:r>
              <a:rPr lang="en-US" sz="2000" dirty="0"/>
              <a:t> using weight analysis</a:t>
            </a:r>
          </a:p>
          <a:p>
            <a:pPr algn="just"/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Expected Impact:</a:t>
            </a:r>
            <a:r>
              <a:rPr lang="en-US" sz="2000" dirty="0"/>
              <a:t> Higher revenue, lower stockouts, better customer satisfaction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4552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D35B7E-15EE-EC7B-37E6-26EB301B4B61}"/>
              </a:ext>
            </a:extLst>
          </p:cNvPr>
          <p:cNvSpPr txBox="1"/>
          <p:nvPr/>
        </p:nvSpPr>
        <p:spPr>
          <a:xfrm>
            <a:off x="1003852" y="159026"/>
            <a:ext cx="10346635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Challenges &amp; Learnings</a:t>
            </a:r>
          </a:p>
          <a:p>
            <a:endParaRPr lang="en-US" sz="2400" b="1" u="sng" dirty="0"/>
          </a:p>
          <a:p>
            <a:r>
              <a:rPr lang="en-US" sz="2000" b="1" dirty="0"/>
              <a:t>Challenges:</a:t>
            </a:r>
          </a:p>
          <a:p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Prices stored in paise → conversion required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Duplicate product names across SKUs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Limited features (no time-series/sales data)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  <a:p>
            <a:r>
              <a:rPr lang="en-US" sz="2000" b="1" dirty="0"/>
              <a:t>Learnings: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Business context is crucial while writing SQL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Data quality directly impacts insight quality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Always think from stakeholder perspective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3050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8547C8-90ED-723A-F601-6437D23323E7}"/>
              </a:ext>
            </a:extLst>
          </p:cNvPr>
          <p:cNvSpPr txBox="1"/>
          <p:nvPr/>
        </p:nvSpPr>
        <p:spPr>
          <a:xfrm>
            <a:off x="897835" y="2105561"/>
            <a:ext cx="103963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064285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237</TotalTime>
  <Words>564</Words>
  <Application>Microsoft Office PowerPoint</Application>
  <PresentationFormat>Widescreen</PresentationFormat>
  <Paragraphs>140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MS Shell Dlg 2</vt:lpstr>
      <vt:lpstr>Wingdings</vt:lpstr>
      <vt:lpstr>Wingdings 3</vt:lpstr>
      <vt:lpstr>Madison</vt:lpstr>
      <vt:lpstr>Zepto Product Analytics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Pranay Sadawarti</dc:creator>
  <cp:lastModifiedBy>Pranay Sadawarti</cp:lastModifiedBy>
  <cp:revision>9</cp:revision>
  <dcterms:created xsi:type="dcterms:W3CDTF">2026-06-01T14:41:02Z</dcterms:created>
  <dcterms:modified xsi:type="dcterms:W3CDTF">2026-06-02T12:13:32Z</dcterms:modified>
</cp:coreProperties>
</file>